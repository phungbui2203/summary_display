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8" r:id="rId2"/>
    <p:sldId id="2134804533" r:id="rId3"/>
    <p:sldId id="2134804539" r:id="rId4"/>
    <p:sldId id="2134804540" r:id="rId5"/>
    <p:sldId id="2134804530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97FE19-96DA-40EC-838C-EB2DE2DEDCE7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322EA-8690-4279-B674-3BE2467CF32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7009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B5AAC-AE29-72F2-B5A3-1E7B13C22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9AE302-DC7B-CCDE-58C2-328B80DC0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20BA4-E856-662E-1493-70AAC6B5A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60E39-73A7-9D3C-82FF-CF3727009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B106B-2946-4CA8-AF98-CA1B5419EE78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67633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22E88-3D6E-BFF9-3370-4C3EFC93C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AC8E2-13E2-9F5E-FD77-24ADFBEEB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4BAA4-282F-FEF4-F44C-0A20C6A74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4F366-8F90-A3BC-FDDA-51BCA8B8D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B106B-2946-4CA8-AF98-CA1B5419EE78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01331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D3AE-98B4-8DA4-03BD-EA3AEB423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8813A7-7BDC-118C-7371-8B0CDA199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94176-3D67-6A3F-4B0E-14692969A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3B6-FEFC-473F-B934-EB3709D19404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0776E-CE96-EDE2-0730-AEB05D4B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4952A-0E8E-9615-2A4A-22C0AFC2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EC9E-10E2-46A7-9939-BC38C1C6EA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87701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38FC9-A687-D2D8-DF30-5427D1D45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27A5C-C9BC-70E6-3A80-1F6FBE2AF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8EB7A-BAEC-E661-DBA4-BC5E53275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3B6-FEFC-473F-B934-EB3709D19404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9510-B5F7-251F-F8FC-B2A5D78E1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5C2F0-4D0C-8EEA-FA6D-0C06DDE05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EC9E-10E2-46A7-9939-BC38C1C6EA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7510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E2C2B-7BB7-77D8-4C4E-3EE12CF6D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6A22C-F46F-FC55-DD03-C05010C6B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62528-7259-0DF7-2BEB-1B437EEA2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3B6-FEFC-473F-B934-EB3709D19404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54FDE-4965-0C9A-4477-506684B3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A3739-F826-5A58-FB89-045922F32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EC9E-10E2-46A7-9939-BC38C1C6EA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1252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63493-9363-3239-DDBC-2F498687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F7697-79C1-A7EC-E65E-285D6854E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59CC0-5B6C-AFAF-A07F-0DAF7854E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57F7D-955E-67F7-DC38-406185C42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3B6-FEFC-473F-B934-EB3709D19404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A4E15-DC14-8276-4941-D26AE0768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8B6EE-4739-1E46-9B96-566D42DE5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EC9E-10E2-46A7-9939-BC38C1C6EA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03056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3423F-1E27-5E7D-3BE3-E3696B49B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0C9E0-8171-B45A-078E-81A82CCD0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DDA2F-1FD8-8F98-A3BD-949A30DDF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D51BFC-2241-34A2-AFAF-33DDD4F37B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20EB1-9FBE-84D2-660F-C63C86FD1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FBB0A3-F406-D7A6-0D36-9B979ABFE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3B6-FEFC-473F-B934-EB3709D19404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5DFBB7-4908-CC9F-D59E-CB4F3036D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7FFC02-64F3-1F49-CB7C-5F2DCF65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EC9E-10E2-46A7-9939-BC38C1C6EA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7787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35B94-8900-5445-2D41-803BB2BFB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2A7B04-E275-6AEE-EA28-037EB5429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3B6-FEFC-473F-B934-EB3709D19404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87BEF6-C41B-9851-33B5-700540F94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92330-CEC3-BD8E-8E72-574698A59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EC9E-10E2-46A7-9939-BC38C1C6EA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07705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07B50-6E4A-1070-973B-A781A7D34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3B6-FEFC-473F-B934-EB3709D19404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D94687-6550-251C-E434-223EF7EF1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AB075-CB81-2012-9294-8FE3F7615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EC9E-10E2-46A7-9939-BC38C1C6EA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13053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7A01B-62AF-504C-E9BF-3B0CFCFA2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17B9A-95E2-99E1-891F-6CC16C371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59B2E-A3CB-C2D9-1A8A-3DC995212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590F8-A196-6098-FFA4-A75600012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3B6-FEFC-473F-B934-EB3709D19404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45170-DA37-59ED-213E-44C00B441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4F91B-520B-E130-552E-D80C51FC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EC9E-10E2-46A7-9939-BC38C1C6EA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22082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3BA5B-52DD-F716-8A80-47FE31628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DCE329-F4E1-DA40-DFF1-F787E437D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71487-50C3-D459-FDA1-AF8E55AD0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6B394-ABA9-58B2-FB59-76579E5A2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3B6-FEFC-473F-B934-EB3709D19404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A8B5C-DE29-89D2-E493-37D6F5695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63C2F-8CC0-0070-1359-D8377BA15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EC9E-10E2-46A7-9939-BC38C1C6EA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4473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97CE-7D51-2FFB-9A7D-B8C192838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35AF9-3860-8430-4DE5-2DDC76238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69C61-9063-1077-E4A7-FEDDE5E3E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3B6-FEFC-473F-B934-EB3709D19404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A11CB-E5A1-F070-C2F3-F81AF018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7C92B-91A2-BC71-D0F0-E7B7DCB7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EC9E-10E2-46A7-9939-BC38C1C6EA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33722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FCCF66-EC33-70F2-605E-6DB81B6D87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77EE7-4031-D1B6-295F-7355B1B98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71EB7-6BD1-7887-C626-AE312260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3B6-FEFC-473F-B934-EB3709D19404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A049C-C575-3432-8987-04CD15379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A9E74-707F-F530-A49B-C11F5BC40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EC9E-10E2-46A7-9939-BC38C1C6EA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59075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74CE56-AA50-5202-5F42-468F41C25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5BE63-094A-087B-5FDA-BA43D2B4D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62A03-BE3E-05F1-79EF-DB93448F1E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12A3B6-FEFC-473F-B934-EB3709D19404}" type="datetimeFigureOut">
              <a:rPr lang="vi-VN" smtClean="0"/>
              <a:t>03/01/2026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22132-5633-2E2A-50D2-CF9526D3A7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45090-D845-29CB-DB93-358F287D4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CEC9E-10E2-46A7-9939-BC38C1C6EA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36240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B44FBB4-6CE2-404E-A776-D87B0547A796}"/>
              </a:ext>
            </a:extLst>
          </p:cNvPr>
          <p:cNvSpPr txBox="1"/>
          <p:nvPr/>
        </p:nvSpPr>
        <p:spPr>
          <a:xfrm>
            <a:off x="1803983" y="2131783"/>
            <a:ext cx="85840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CHƯƠNG TRÌNH TRƯNG BÀY</a:t>
            </a:r>
            <a:endParaRPr lang="en-US" sz="32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2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MIẾN SONG LONG VÀ SONG LÂN</a:t>
            </a:r>
            <a:endParaRPr lang="en-US" sz="3000" b="1" dirty="0">
              <a:solidFill>
                <a:srgbClr val="00B0F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AutoShape 2" descr="Vector Logo] Bách Hóa Xanh - Download Định Dạng EPS, SVG Cho AI, Corel »  Hải Triều">
            <a:extLst>
              <a:ext uri="{FF2B5EF4-FFF2-40B4-BE49-F238E27FC236}">
                <a16:creationId xmlns:a16="http://schemas.microsoft.com/office/drawing/2014/main" id="{1A8009DE-DF09-8640-716B-16EFD0BF27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Vector Logo] Bách Hóa Xanh - Download Định Dạng EPS, SVG Cho AI, Corel »  Hải Triều">
            <a:extLst>
              <a:ext uri="{FF2B5EF4-FFF2-40B4-BE49-F238E27FC236}">
                <a16:creationId xmlns:a16="http://schemas.microsoft.com/office/drawing/2014/main" id="{A9E8C327-FC5D-CC83-277F-F9D88AB350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0687" y="282260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625" y="423975"/>
            <a:ext cx="3841767" cy="1426152"/>
          </a:xfrm>
          <a:prstGeom prst="rect">
            <a:avLst/>
          </a:prstGeom>
        </p:spPr>
      </p:pic>
      <p:pic>
        <p:nvPicPr>
          <p:cNvPr id="1030" name="Picture 6" descr="BJC International (Vietnam) Limited tuyển dụng 7029 - Vieclamnhamay.vn">
            <a:extLst>
              <a:ext uri="{FF2B5EF4-FFF2-40B4-BE49-F238E27FC236}">
                <a16:creationId xmlns:a16="http://schemas.microsoft.com/office/drawing/2014/main" id="{840582AB-BB07-B201-C0E6-8CB8657A5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AF7FE"/>
              </a:clrFrom>
              <a:clrTo>
                <a:srgbClr val="EAF7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971" y="3861375"/>
            <a:ext cx="7332054" cy="257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0B76EF-D013-8B6D-CE00-ACF6573B07F7}"/>
              </a:ext>
            </a:extLst>
          </p:cNvPr>
          <p:cNvSpPr txBox="1"/>
          <p:nvPr/>
        </p:nvSpPr>
        <p:spPr>
          <a:xfrm>
            <a:off x="5063727" y="6501624"/>
            <a:ext cx="2189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HCMC</a:t>
            </a:r>
            <a:r>
              <a:rPr lang="en-US" i="1"/>
              <a:t>, 15 Dec </a:t>
            </a:r>
            <a:r>
              <a:rPr lang="en-US" i="1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4133727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ACA89-4612-D72D-FFFC-87C0BA313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85E72D2-159B-E1D5-CE68-715FCC5AB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8046" y="6266288"/>
            <a:ext cx="1593954" cy="59171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22264F9-082E-798D-406D-624B6D93E940}"/>
              </a:ext>
            </a:extLst>
          </p:cNvPr>
          <p:cNvGrpSpPr/>
          <p:nvPr/>
        </p:nvGrpSpPr>
        <p:grpSpPr>
          <a:xfrm>
            <a:off x="0" y="0"/>
            <a:ext cx="12192000" cy="701383"/>
            <a:chOff x="0" y="2889218"/>
            <a:chExt cx="12192000" cy="7013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A7E749A-E641-F327-4BF4-D945A753F411}"/>
                </a:ext>
              </a:extLst>
            </p:cNvPr>
            <p:cNvSpPr/>
            <p:nvPr/>
          </p:nvSpPr>
          <p:spPr>
            <a:xfrm>
              <a:off x="0" y="2889218"/>
              <a:ext cx="12192000" cy="701383"/>
            </a:xfrm>
            <a:prstGeom prst="rect">
              <a:avLst/>
            </a:prstGeom>
            <a:solidFill>
              <a:srgbClr val="000099"/>
            </a:solidFill>
            <a:ln>
              <a:solidFill>
                <a:srgbClr val="000099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95B0DA1-49B8-3A96-D668-78B8BF69C2CC}"/>
                </a:ext>
              </a:extLst>
            </p:cNvPr>
            <p:cNvSpPr txBox="1"/>
            <p:nvPr/>
          </p:nvSpPr>
          <p:spPr>
            <a:xfrm>
              <a:off x="148659" y="3009076"/>
              <a:ext cx="925950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TIÊU CHUẨN TRƯNG BÀY KHUNG </a:t>
              </a:r>
              <a:endPara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2AEDB28-B4EC-DC46-D118-637625EF7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968802"/>
              </p:ext>
            </p:extLst>
          </p:nvPr>
        </p:nvGraphicFramePr>
        <p:xfrm>
          <a:off x="5761382" y="1211718"/>
          <a:ext cx="5596899" cy="449816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392166">
                  <a:extLst>
                    <a:ext uri="{9D8B030D-6E8A-4147-A177-3AD203B41FA5}">
                      <a16:colId xmlns:a16="http://schemas.microsoft.com/office/drawing/2014/main" val="636583427"/>
                    </a:ext>
                  </a:extLst>
                </a:gridCol>
                <a:gridCol w="4204733">
                  <a:extLst>
                    <a:ext uri="{9D8B030D-6E8A-4147-A177-3AD203B41FA5}">
                      <a16:colId xmlns:a16="http://schemas.microsoft.com/office/drawing/2014/main" val="206193502"/>
                    </a:ext>
                  </a:extLst>
                </a:gridCol>
              </a:tblGrid>
              <a:tr h="533856">
                <a:tc>
                  <a:txBody>
                    <a:bodyPr/>
                    <a:lstStyle/>
                    <a:p>
                      <a:r>
                        <a:rPr lang="en-US" sz="1400"/>
                        <a:t>Dòng sản phẩm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Miến khô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976503"/>
                  </a:ext>
                </a:extLst>
              </a:tr>
              <a:tr h="454093">
                <a:tc>
                  <a:txBody>
                    <a:bodyPr/>
                    <a:lstStyle/>
                    <a:p>
                      <a:r>
                        <a:rPr lang="en-US" sz="1400" b="1"/>
                        <a:t>Timeline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Tháng 1/2026 – tháng 12/2026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05225"/>
                  </a:ext>
                </a:extLst>
              </a:tr>
              <a:tr h="533856">
                <a:tc>
                  <a:txBody>
                    <a:bodyPr/>
                    <a:lstStyle/>
                    <a:p>
                      <a:r>
                        <a:rPr lang="en-US" sz="1400" b="1"/>
                        <a:t>Sản phẩm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/>
                        <a:t>Miến đậu xanh 200g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/>
                        <a:t>Miến dong 200g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945393"/>
                  </a:ext>
                </a:extLst>
              </a:tr>
              <a:tr h="590060">
                <a:tc>
                  <a:txBody>
                    <a:bodyPr/>
                    <a:lstStyle/>
                    <a:p>
                      <a:r>
                        <a:rPr lang="en-US" sz="1400" b="1"/>
                        <a:t>Quy cách trưng bày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 err="1"/>
                        <a:t>Miến</a:t>
                      </a:r>
                      <a:r>
                        <a:rPr lang="en-US" sz="1400" b="0" dirty="0"/>
                        <a:t> dong 200g: 8 </a:t>
                      </a:r>
                      <a:r>
                        <a:rPr lang="en-US" sz="1400" b="0" dirty="0" err="1"/>
                        <a:t>mặt</a:t>
                      </a:r>
                      <a:r>
                        <a:rPr lang="en-US" sz="1400" b="0" dirty="0"/>
                        <a:t> x 3 </a:t>
                      </a:r>
                      <a:r>
                        <a:rPr lang="en-US" sz="1400" b="0" dirty="0" err="1"/>
                        <a:t>lớp</a:t>
                      </a:r>
                      <a:endParaRPr lang="en-US" sz="1400" b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/>
                        <a:t>Miến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đậu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xanh</a:t>
                      </a:r>
                      <a:r>
                        <a:rPr lang="en-US" sz="1400" dirty="0"/>
                        <a:t> 200g: 10 </a:t>
                      </a:r>
                      <a:r>
                        <a:rPr lang="en-US" sz="1400" dirty="0" err="1"/>
                        <a:t>mặt</a:t>
                      </a:r>
                      <a:r>
                        <a:rPr lang="en-US" sz="1400" dirty="0"/>
                        <a:t> x 3 </a:t>
                      </a:r>
                      <a:r>
                        <a:rPr lang="en-US" sz="1400" dirty="0" err="1"/>
                        <a:t>lớp</a:t>
                      </a: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i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(</a:t>
                      </a:r>
                      <a:r>
                        <a:rPr lang="en-US" sz="1200" i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tương</a:t>
                      </a:r>
                      <a:r>
                        <a:rPr lang="en-US" sz="1200" i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i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đương</a:t>
                      </a:r>
                      <a:r>
                        <a:rPr lang="en-US" sz="1200" i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 1 </a:t>
                      </a:r>
                      <a:r>
                        <a:rPr lang="en-US" sz="1200" i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thùng</a:t>
                      </a:r>
                      <a:r>
                        <a:rPr lang="en-US" sz="1200" i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i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Miến</a:t>
                      </a:r>
                      <a:r>
                        <a:rPr lang="en-US" sz="1200" i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i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đậu</a:t>
                      </a:r>
                      <a:r>
                        <a:rPr lang="en-US" sz="1200" i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i="1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xanh</a:t>
                      </a:r>
                      <a:r>
                        <a:rPr lang="en-US" sz="1200" i="1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200g)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239824"/>
                  </a:ext>
                </a:extLst>
              </a:tr>
              <a:tr h="629404">
                <a:tc>
                  <a:txBody>
                    <a:bodyPr/>
                    <a:lstStyle/>
                    <a:p>
                      <a:r>
                        <a:rPr lang="en-US" sz="1400" b="1"/>
                        <a:t>Tiêu chuẩn trưng bày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i="0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Trưng</a:t>
                      </a:r>
                      <a:r>
                        <a:rPr lang="en-US" sz="1400" i="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i="0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bày</a:t>
                      </a:r>
                      <a:r>
                        <a:rPr lang="en-US" sz="1400" i="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i="0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ít</a:t>
                      </a:r>
                      <a:r>
                        <a:rPr lang="en-US" sz="1400" i="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i="0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nhất</a:t>
                      </a:r>
                      <a:r>
                        <a:rPr lang="en-US" sz="1400" i="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i="0" dirty="0">
                          <a:latin typeface="Aptos Display" panose="020B0004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r>
                        <a:rPr lang="vi-VN" sz="1400" i="0" dirty="0">
                          <a:latin typeface="Aptos Display" panose="020B0004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mâm, ít nhất 1</a:t>
                      </a:r>
                      <a:r>
                        <a:rPr lang="en-US" sz="1400" i="0" dirty="0">
                          <a:latin typeface="Aptos Display" panose="020B0004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i="0" dirty="0" err="1">
                          <a:latin typeface="Aptos Display" panose="020B0004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loại</a:t>
                      </a:r>
                      <a:r>
                        <a:rPr lang="en-US" sz="1400" i="0" dirty="0">
                          <a:latin typeface="Aptos Display" panose="020B0004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SKU</a:t>
                      </a:r>
                      <a:r>
                        <a:rPr lang="en-US" sz="1200" i="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i="0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với</a:t>
                      </a:r>
                      <a:r>
                        <a:rPr lang="en-US" sz="1400" i="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i="0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tối</a:t>
                      </a:r>
                      <a:r>
                        <a:rPr lang="en-US" sz="1400" i="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i="0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thiểu</a:t>
                      </a:r>
                      <a:r>
                        <a:rPr lang="en-US" sz="1400" i="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8 </a:t>
                      </a:r>
                      <a:r>
                        <a:rPr lang="en-US" sz="1400" i="0" dirty="0" err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mặt</a:t>
                      </a:r>
                      <a:endParaRPr lang="en-US" sz="1400" i="0" dirty="0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2688"/>
                  </a:ext>
                </a:extLst>
              </a:tr>
              <a:tr h="503361">
                <a:tc>
                  <a:txBody>
                    <a:bodyPr/>
                    <a:lstStyle/>
                    <a:p>
                      <a:r>
                        <a:rPr lang="en-US" sz="1400" b="1"/>
                        <a:t>Thưởng trưng bày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Mỗi tháng thưởng 10 gói Miến đậu xanh 200g cho mỗi cửa hàng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525485"/>
                  </a:ext>
                </a:extLst>
              </a:tr>
              <a:tr h="503361">
                <a:tc>
                  <a:txBody>
                    <a:bodyPr/>
                    <a:lstStyle/>
                    <a:p>
                      <a:r>
                        <a:rPr lang="en-US" sz="1400" b="1"/>
                        <a:t>CTKM hiện có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/>
                        <a:t>Miến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đậu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xanh</a:t>
                      </a:r>
                      <a:r>
                        <a:rPr lang="en-US" sz="1400" dirty="0"/>
                        <a:t> 200g, </a:t>
                      </a:r>
                      <a:r>
                        <a:rPr lang="en-US" sz="1400" dirty="0" err="1"/>
                        <a:t>miến</a:t>
                      </a:r>
                      <a:r>
                        <a:rPr lang="en-US" sz="1400" dirty="0"/>
                        <a:t> dong 200g: </a:t>
                      </a:r>
                      <a:r>
                        <a:rPr lang="en-US" sz="1400" dirty="0" err="1"/>
                        <a:t>mua</a:t>
                      </a:r>
                      <a:r>
                        <a:rPr lang="en-US" sz="1400" dirty="0"/>
                        <a:t> 20 </a:t>
                      </a:r>
                      <a:r>
                        <a:rPr lang="en-US" sz="1400" dirty="0" err="1"/>
                        <a:t>gói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tặng</a:t>
                      </a:r>
                      <a:r>
                        <a:rPr lang="en-US" sz="1400" dirty="0"/>
                        <a:t> 1 </a:t>
                      </a:r>
                      <a:r>
                        <a:rPr lang="en-US" sz="1400" dirty="0" err="1"/>
                        <a:t>gói</a:t>
                      </a:r>
                      <a:r>
                        <a:rPr lang="en-US" sz="1400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/>
                        <a:t>Miến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tươi</a:t>
                      </a:r>
                      <a:r>
                        <a:rPr lang="en-US" sz="1400" dirty="0"/>
                        <a:t> 1kg: </a:t>
                      </a:r>
                      <a:r>
                        <a:rPr lang="en-US" sz="1400" dirty="0" err="1"/>
                        <a:t>mua</a:t>
                      </a:r>
                      <a:r>
                        <a:rPr lang="en-US" sz="1400" dirty="0"/>
                        <a:t> 12 </a:t>
                      </a:r>
                      <a:r>
                        <a:rPr lang="en-US" sz="1400" dirty="0" err="1"/>
                        <a:t>gói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tặng</a:t>
                      </a:r>
                      <a:r>
                        <a:rPr lang="en-US" sz="1400" dirty="0"/>
                        <a:t> 1 </a:t>
                      </a:r>
                      <a:r>
                        <a:rPr lang="en-US" sz="1400" dirty="0" err="1"/>
                        <a:t>gói</a:t>
                      </a:r>
                      <a:r>
                        <a:rPr lang="en-US" sz="1400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/>
                        <a:t>Miến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tươi</a:t>
                      </a:r>
                      <a:r>
                        <a:rPr lang="en-US" sz="1400" dirty="0"/>
                        <a:t> 3kg: </a:t>
                      </a:r>
                      <a:r>
                        <a:rPr lang="en-US" sz="1400" dirty="0" err="1"/>
                        <a:t>mua</a:t>
                      </a:r>
                      <a:r>
                        <a:rPr lang="en-US" sz="1400" dirty="0"/>
                        <a:t> 20 </a:t>
                      </a:r>
                      <a:r>
                        <a:rPr lang="en-US" sz="1400" dirty="0" err="1"/>
                        <a:t>gói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tặng</a:t>
                      </a:r>
                      <a:r>
                        <a:rPr lang="en-US" sz="1400" dirty="0"/>
                        <a:t> 1 </a:t>
                      </a:r>
                      <a:r>
                        <a:rPr lang="en-US" sz="1400" dirty="0" err="1"/>
                        <a:t>gói</a:t>
                      </a:r>
                      <a:endParaRPr lang="en-US" sz="14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i="1" dirty="0"/>
                        <a:t>        (</a:t>
                      </a:r>
                      <a:r>
                        <a:rPr lang="en-US" sz="1200" i="1" dirty="0" err="1"/>
                        <a:t>lưu</a:t>
                      </a:r>
                      <a:r>
                        <a:rPr lang="en-US" sz="1200" i="1" dirty="0"/>
                        <a:t> ý: </a:t>
                      </a:r>
                      <a:r>
                        <a:rPr lang="en-US" sz="1200" i="1" dirty="0" err="1"/>
                        <a:t>ctkm</a:t>
                      </a:r>
                      <a:r>
                        <a:rPr lang="en-US" sz="1200" i="1" dirty="0"/>
                        <a:t> </a:t>
                      </a:r>
                      <a:r>
                        <a:rPr lang="en-US" sz="1200" i="1" dirty="0" err="1"/>
                        <a:t>có</a:t>
                      </a:r>
                      <a:r>
                        <a:rPr lang="en-US" sz="1200" i="1" dirty="0"/>
                        <a:t> </a:t>
                      </a:r>
                      <a:r>
                        <a:rPr lang="en-US" sz="1200" i="1" dirty="0" err="1"/>
                        <a:t>thể</a:t>
                      </a:r>
                      <a:r>
                        <a:rPr lang="en-US" sz="1200" i="1" dirty="0"/>
                        <a:t> </a:t>
                      </a:r>
                      <a:r>
                        <a:rPr lang="en-US" sz="1200" i="1" dirty="0" err="1"/>
                        <a:t>thay</a:t>
                      </a:r>
                      <a:r>
                        <a:rPr lang="en-US" sz="1200" i="1" dirty="0"/>
                        <a:t> </a:t>
                      </a:r>
                      <a:r>
                        <a:rPr lang="en-US" sz="1200" i="1" dirty="0" err="1"/>
                        <a:t>đổi</a:t>
                      </a:r>
                      <a:r>
                        <a:rPr lang="en-US" sz="1200" i="1" dirty="0"/>
                        <a:t> qua </a:t>
                      </a:r>
                      <a:r>
                        <a:rPr lang="en-US" sz="1200" i="1" dirty="0" err="1"/>
                        <a:t>từng</a:t>
                      </a:r>
                      <a:r>
                        <a:rPr lang="en-US" sz="1200" i="1" dirty="0"/>
                        <a:t> </a:t>
                      </a:r>
                      <a:r>
                        <a:rPr lang="en-US" sz="1200" i="1" dirty="0" err="1"/>
                        <a:t>tháng</a:t>
                      </a:r>
                      <a:r>
                        <a:rPr lang="en-US" sz="1200" i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15015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A22C5D96-E649-299A-8F75-F66AF0958508}"/>
              </a:ext>
            </a:extLst>
          </p:cNvPr>
          <p:cNvSpPr txBox="1"/>
          <p:nvPr/>
        </p:nvSpPr>
        <p:spPr>
          <a:xfrm>
            <a:off x="2204597" y="5206968"/>
            <a:ext cx="3556785" cy="33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Kích thước: 1m x 0.8m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 descr="A shelf with food on it&#10;&#10;AI-generated content may be incorrect.">
            <a:extLst>
              <a:ext uri="{FF2B5EF4-FFF2-40B4-BE49-F238E27FC236}">
                <a16:creationId xmlns:a16="http://schemas.microsoft.com/office/drawing/2014/main" id="{8FEC17CF-61A0-643C-C921-C5F6C6429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27" y="1760960"/>
            <a:ext cx="4774672" cy="33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861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12FDC-5DEF-76A6-24E1-555AD46A1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CB476E-B6E9-AC79-47AA-E691CC3FF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046" y="6266288"/>
            <a:ext cx="1593954" cy="59171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5596422-CD56-DE34-8E4F-4728511FF7DA}"/>
              </a:ext>
            </a:extLst>
          </p:cNvPr>
          <p:cNvGrpSpPr/>
          <p:nvPr/>
        </p:nvGrpSpPr>
        <p:grpSpPr>
          <a:xfrm>
            <a:off x="0" y="0"/>
            <a:ext cx="12192000" cy="701383"/>
            <a:chOff x="0" y="2889218"/>
            <a:chExt cx="12192000" cy="7013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FED0A25-CBFB-D633-3769-2E40D711397E}"/>
                </a:ext>
              </a:extLst>
            </p:cNvPr>
            <p:cNvSpPr/>
            <p:nvPr/>
          </p:nvSpPr>
          <p:spPr>
            <a:xfrm>
              <a:off x="0" y="2889218"/>
              <a:ext cx="12192000" cy="701383"/>
            </a:xfrm>
            <a:prstGeom prst="rect">
              <a:avLst/>
            </a:prstGeom>
            <a:solidFill>
              <a:srgbClr val="000099"/>
            </a:solidFill>
            <a:ln>
              <a:solidFill>
                <a:srgbClr val="000099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63C926E-52C3-3F6E-D93A-5EC74407A186}"/>
                </a:ext>
              </a:extLst>
            </p:cNvPr>
            <p:cNvSpPr txBox="1"/>
            <p:nvPr/>
          </p:nvSpPr>
          <p:spPr>
            <a:xfrm>
              <a:off x="148659" y="3009076"/>
              <a:ext cx="925950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2400" b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TIÊU CHUẨN TRƯNG BÀY KỆ </a:t>
              </a:r>
              <a:endPara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DD3168B8-3516-1CF7-2551-39C017F63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601752"/>
              </p:ext>
            </p:extLst>
          </p:nvPr>
        </p:nvGraphicFramePr>
        <p:xfrm>
          <a:off x="4848204" y="846330"/>
          <a:ext cx="6990243" cy="514848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904966">
                  <a:extLst>
                    <a:ext uri="{9D8B030D-6E8A-4147-A177-3AD203B41FA5}">
                      <a16:colId xmlns:a16="http://schemas.microsoft.com/office/drawing/2014/main" val="636583427"/>
                    </a:ext>
                  </a:extLst>
                </a:gridCol>
                <a:gridCol w="3217990">
                  <a:extLst>
                    <a:ext uri="{9D8B030D-6E8A-4147-A177-3AD203B41FA5}">
                      <a16:colId xmlns:a16="http://schemas.microsoft.com/office/drawing/2014/main" val="206193502"/>
                    </a:ext>
                  </a:extLst>
                </a:gridCol>
                <a:gridCol w="2867287">
                  <a:extLst>
                    <a:ext uri="{9D8B030D-6E8A-4147-A177-3AD203B41FA5}">
                      <a16:colId xmlns:a16="http://schemas.microsoft.com/office/drawing/2014/main" val="2466796002"/>
                    </a:ext>
                  </a:extLst>
                </a:gridCol>
              </a:tblGrid>
              <a:tr h="433818">
                <a:tc>
                  <a:txBody>
                    <a:bodyPr/>
                    <a:lstStyle/>
                    <a:p>
                      <a:r>
                        <a:rPr lang="en-US" sz="1300"/>
                        <a:t>Dòng sản phẩm</a:t>
                      </a:r>
                      <a:endParaRPr lang="en-US" sz="13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300"/>
                        <a:t>Miến khô &amp; Miến tươi</a:t>
                      </a:r>
                      <a:endParaRPr lang="en-US" sz="13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976503"/>
                  </a:ext>
                </a:extLst>
              </a:tr>
              <a:tr h="399822">
                <a:tc>
                  <a:txBody>
                    <a:bodyPr/>
                    <a:lstStyle/>
                    <a:p>
                      <a:r>
                        <a:rPr lang="en-US" sz="1300" b="1"/>
                        <a:t>Thời gian</a:t>
                      </a:r>
                      <a:endParaRPr lang="en-US" sz="13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300"/>
                        <a:t>Từ tháng 1/2026 – tháng 12/2026</a:t>
                      </a:r>
                      <a:endParaRPr lang="en-US" sz="13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720990"/>
                  </a:ext>
                </a:extLst>
              </a:tr>
              <a:tr h="543956">
                <a:tc>
                  <a:txBody>
                    <a:bodyPr/>
                    <a:lstStyle/>
                    <a:p>
                      <a:r>
                        <a:rPr lang="en-US" sz="1300" b="1"/>
                        <a:t>Sản phẩm trưng bày</a:t>
                      </a:r>
                      <a:endParaRPr lang="en-US" sz="13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300"/>
                        <a:t>Miến khô: Miến đậu xanh 200g và Miến dong 200g</a:t>
                      </a:r>
                    </a:p>
                    <a:p>
                      <a:r>
                        <a:rPr lang="en-US" sz="1300"/>
                        <a:t>Miến tươi: Miến tươi Song Lân 500g, Miến tươi Song Long 1kg</a:t>
                      </a:r>
                      <a:endParaRPr lang="en-US" sz="13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945393"/>
                  </a:ext>
                </a:extLst>
              </a:tr>
              <a:tr h="433037">
                <a:tc>
                  <a:txBody>
                    <a:bodyPr/>
                    <a:lstStyle/>
                    <a:p>
                      <a:r>
                        <a:rPr lang="en-US" sz="1300" b="1"/>
                        <a:t>Quy cách trưng bày</a:t>
                      </a:r>
                      <a:endParaRPr 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300" i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Cách 1: 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/>
                        <a:t>Miến đậu xanh 200g: 6 mặt x 3 lớp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/>
                        <a:t>Miến tươi Song Lân 500g: 3 mặt x 4 lớp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/>
                        <a:t>Miến tươi Song Long 1kg: 2 mặt x 2 lớp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300"/>
                    </a:p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100" i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(tương đương: 1 thùng Miến tươi 1kg)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300" i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Cách 2: 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b="0"/>
                        <a:t>Miến dong 200g: 5 mặt x 3 lớp 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b="0"/>
                        <a:t>Miến đậu xanh 200g: 6 mặt x 3 lớp 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300" b="0"/>
                        <a:t>        x 2 tầng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300" b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b="0" i="1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(tương đương 1 thùng Miến đậu xanh 200g)</a:t>
                      </a:r>
                      <a:endParaRPr lang="en-US" sz="1100" i="1"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2688"/>
                  </a:ext>
                </a:extLst>
              </a:tr>
              <a:tr h="751522">
                <a:tc>
                  <a:txBody>
                    <a:bodyPr/>
                    <a:lstStyle/>
                    <a:p>
                      <a:r>
                        <a:rPr lang="en-US" sz="1300" b="1"/>
                        <a:t>Tiêu chuẩn trưng bày</a:t>
                      </a:r>
                      <a:endParaRPr 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300" i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Cách 1: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i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Trưng bày ít nhất 1 SKU miến khô và 1 SKU miến tươi, miến khô trưng tối thiểu 4 mặt, miến tươi tối thiểu 2 mặt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i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Cách 2: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i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Trưng bày  đủ 3 mâm, mỗi mâm tối thiểu 5 mặt sản phẩm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734460"/>
                  </a:ext>
                </a:extLst>
              </a:tr>
              <a:tr h="557667">
                <a:tc>
                  <a:txBody>
                    <a:bodyPr/>
                    <a:lstStyle/>
                    <a:p>
                      <a:r>
                        <a:rPr lang="en-US" sz="1300" b="1"/>
                        <a:t>Thưởng trưng bày</a:t>
                      </a:r>
                      <a:endParaRPr lang="en-US" sz="13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/>
                        <a:t>Mỗi tháng thưởng 20 gói Miến đậu xanh 200g cho mỗi cửa hang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670673"/>
                  </a:ext>
                </a:extLst>
              </a:tr>
              <a:tr h="791728">
                <a:tc>
                  <a:txBody>
                    <a:bodyPr/>
                    <a:lstStyle/>
                    <a:p>
                      <a:r>
                        <a:rPr lang="en-US" sz="1300" b="1"/>
                        <a:t>CTKM hiện có</a:t>
                      </a:r>
                      <a:endParaRPr lang="en-US" sz="13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/>
                        <a:t>Miến đậu xanh 200g, miến dong 200g: mua 20 gói tặng 1 gói </a:t>
                      </a:r>
                      <a:endParaRPr lang="en-US" sz="13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/>
                        <a:t>Miến tươi 1kg: mua 12 gói tặng 1 gói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/>
                        <a:t>Miến tươi 3kg: mua 20 gói tặng 1 gói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300"/>
                        <a:t>(lưu ý: ctkm có thể thay đổi qua từng tháng)</a:t>
                      </a:r>
                      <a:endParaRPr lang="en-US" sz="13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150152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FA06DBED-D7B5-3364-1500-4350138D8C0E}"/>
              </a:ext>
            </a:extLst>
          </p:cNvPr>
          <p:cNvSpPr txBox="1"/>
          <p:nvPr/>
        </p:nvSpPr>
        <p:spPr>
          <a:xfrm>
            <a:off x="663794" y="5994819"/>
            <a:ext cx="6339710" cy="33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Kích thước: 1,3m (cao) x 0.5m (rộng) x 0.25m (sâu)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11530C-5269-A313-CD20-1CD9484EC5A7}"/>
              </a:ext>
            </a:extLst>
          </p:cNvPr>
          <p:cNvSpPr txBox="1"/>
          <p:nvPr/>
        </p:nvSpPr>
        <p:spPr>
          <a:xfrm>
            <a:off x="505492" y="815647"/>
            <a:ext cx="19195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Cách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CB2956-679C-CF4F-1B46-8144895667CB}"/>
              </a:ext>
            </a:extLst>
          </p:cNvPr>
          <p:cNvSpPr txBox="1"/>
          <p:nvPr/>
        </p:nvSpPr>
        <p:spPr>
          <a:xfrm>
            <a:off x="2763246" y="824535"/>
            <a:ext cx="18087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Cách 2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E347B44-FF67-9A27-7826-1B28A2DD40C6}"/>
              </a:ext>
            </a:extLst>
          </p:cNvPr>
          <p:cNvGrpSpPr/>
          <p:nvPr/>
        </p:nvGrpSpPr>
        <p:grpSpPr>
          <a:xfrm>
            <a:off x="527542" y="1119844"/>
            <a:ext cx="1866069" cy="4793774"/>
            <a:chOff x="3139609" y="1100556"/>
            <a:chExt cx="2006645" cy="4793774"/>
          </a:xfrm>
        </p:grpSpPr>
        <p:pic>
          <p:nvPicPr>
            <p:cNvPr id="21" name="Picture 20" descr="A green and white grid with a green sign&#10;&#10;AI-generated content may be incorrect.">
              <a:extLst>
                <a:ext uri="{FF2B5EF4-FFF2-40B4-BE49-F238E27FC236}">
                  <a16:creationId xmlns:a16="http://schemas.microsoft.com/office/drawing/2014/main" id="{CD8071CF-224B-56DF-E61C-0FC9E203F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39609" y="1100556"/>
              <a:ext cx="2006645" cy="4793774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9E7632F-09CD-FA6F-FC04-8E71541D785B}"/>
                </a:ext>
              </a:extLst>
            </p:cNvPr>
            <p:cNvGrpSpPr/>
            <p:nvPr/>
          </p:nvGrpSpPr>
          <p:grpSpPr>
            <a:xfrm>
              <a:off x="3267475" y="2605274"/>
              <a:ext cx="1728128" cy="892169"/>
              <a:chOff x="4989648" y="2942757"/>
              <a:chExt cx="1687039" cy="715349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48405FB3-60F1-7AE5-6D28-8DBEE80421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89648" y="2942757"/>
                <a:ext cx="537854" cy="714215"/>
              </a:xfrm>
              <a:prstGeom prst="rect">
                <a:avLst/>
              </a:prstGeom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BD8561CD-8DFC-FB1D-9AAD-F9CB759924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64962" y="2952997"/>
                <a:ext cx="537854" cy="703975"/>
              </a:xfrm>
              <a:prstGeom prst="rect">
                <a:avLst/>
              </a:prstGeom>
            </p:spPr>
          </p:pic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3547706D-45ED-3279-D9E9-6609F657DE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38831" y="2952997"/>
                <a:ext cx="537856" cy="705109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1717537-4BED-2BDB-610D-7E740FAEB427}"/>
                </a:ext>
              </a:extLst>
            </p:cNvPr>
            <p:cNvGrpSpPr/>
            <p:nvPr/>
          </p:nvGrpSpPr>
          <p:grpSpPr>
            <a:xfrm>
              <a:off x="3282330" y="3953248"/>
              <a:ext cx="1733112" cy="957730"/>
              <a:chOff x="877302" y="3781425"/>
              <a:chExt cx="1260015" cy="831956"/>
            </a:xfrm>
          </p:grpSpPr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787D8F06-A9FD-62F7-A718-B9A494C768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7302" y="3781425"/>
                <a:ext cx="612378" cy="831956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1EA5A78D-A4DA-338F-016E-38987F2E3D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24939" y="3781425"/>
                <a:ext cx="612378" cy="831956"/>
              </a:xfrm>
              <a:prstGeom prst="rect">
                <a:avLst/>
              </a:prstGeom>
            </p:spPr>
          </p:pic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1959ACE-3C7B-775D-4162-6E19126001E6}"/>
                </a:ext>
              </a:extLst>
            </p:cNvPr>
            <p:cNvGrpSpPr/>
            <p:nvPr/>
          </p:nvGrpSpPr>
          <p:grpSpPr>
            <a:xfrm>
              <a:off x="3256716" y="1524665"/>
              <a:ext cx="1811591" cy="705225"/>
              <a:chOff x="4978164" y="1769693"/>
              <a:chExt cx="1598390" cy="705225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5E3E5D4D-746D-B4D1-254B-6E0DCC137C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78164" y="1772472"/>
                <a:ext cx="292608" cy="699097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A373B83-E5B4-069A-8ACF-D4781E3AF0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92378" y="1772470"/>
                <a:ext cx="292608" cy="699097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F3B38B25-4AAB-D37F-39E9-F4B903EB3B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58666" y="1772467"/>
                <a:ext cx="292607" cy="699097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90D9CCD-C3F6-89B3-BD87-7A3FB19168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10910" y="1772467"/>
                <a:ext cx="292608" cy="69909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136680F2-6B59-D61C-5114-0D190748DF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83946" y="1775821"/>
                <a:ext cx="292608" cy="699097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FA56961D-4713-75C6-BAF3-28FB4C5057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30279" y="1769693"/>
                <a:ext cx="292608" cy="699097"/>
              </a:xfrm>
              <a:prstGeom prst="rect">
                <a:avLst/>
              </a:prstGeom>
            </p:spPr>
          </p:pic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C5F99ED-5665-52D5-CE97-C6AB933988F5}"/>
              </a:ext>
            </a:extLst>
          </p:cNvPr>
          <p:cNvGrpSpPr/>
          <p:nvPr/>
        </p:nvGrpSpPr>
        <p:grpSpPr>
          <a:xfrm>
            <a:off x="2728640" y="1119844"/>
            <a:ext cx="1873058" cy="4829860"/>
            <a:chOff x="609743" y="1104159"/>
            <a:chExt cx="2006645" cy="4793774"/>
          </a:xfrm>
        </p:grpSpPr>
        <p:pic>
          <p:nvPicPr>
            <p:cNvPr id="17" name="Picture 16" descr="A green and white grid with a green sign&#10;&#10;AI-generated content may be incorrect.">
              <a:extLst>
                <a:ext uri="{FF2B5EF4-FFF2-40B4-BE49-F238E27FC236}">
                  <a16:creationId xmlns:a16="http://schemas.microsoft.com/office/drawing/2014/main" id="{0DC07A0A-D3DC-31A5-30E2-D99023A99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743" y="1104159"/>
              <a:ext cx="2006645" cy="4793774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9605E82-651E-A67E-42C7-EC2CEC4AF70D}"/>
                </a:ext>
              </a:extLst>
            </p:cNvPr>
            <p:cNvGrpSpPr/>
            <p:nvPr/>
          </p:nvGrpSpPr>
          <p:grpSpPr>
            <a:xfrm>
              <a:off x="747682" y="1696030"/>
              <a:ext cx="1693057" cy="554227"/>
              <a:chOff x="2385022" y="3725526"/>
              <a:chExt cx="1394749" cy="505107"/>
            </a:xfrm>
          </p:grpSpPr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1BE53DA8-C65E-544A-DB7D-B96A84D35A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85022" y="3725526"/>
                <a:ext cx="348000" cy="497472"/>
              </a:xfrm>
              <a:prstGeom prst="rect">
                <a:avLst/>
              </a:prstGeom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478B5767-7D90-1D2F-255A-4FB7D42571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31674" y="3728623"/>
                <a:ext cx="348000" cy="497472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7A2CBC6D-6378-19CD-8F34-2CD7905838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01508" y="3733161"/>
                <a:ext cx="348000" cy="497472"/>
              </a:xfrm>
              <a:prstGeom prst="rect">
                <a:avLst/>
              </a:prstGeom>
            </p:spPr>
          </p:pic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5E23CE00-6DB1-C0C0-E054-484A097C8C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59335" y="3725526"/>
                <a:ext cx="348000" cy="497472"/>
              </a:xfrm>
              <a:prstGeom prst="rect">
                <a:avLst/>
              </a:prstGeom>
            </p:spPr>
          </p:pic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C5494EFC-A664-90B7-DD48-7379133752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36296" y="3726625"/>
                <a:ext cx="343475" cy="491003"/>
              </a:xfrm>
              <a:prstGeom prst="rect">
                <a:avLst/>
              </a:prstGeom>
            </p:spPr>
          </p:pic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25302EDA-8673-3416-8C53-A922FC1859DF}"/>
                </a:ext>
              </a:extLst>
            </p:cNvPr>
            <p:cNvGrpSpPr/>
            <p:nvPr/>
          </p:nvGrpSpPr>
          <p:grpSpPr>
            <a:xfrm>
              <a:off x="707269" y="2644661"/>
              <a:ext cx="1811591" cy="874503"/>
              <a:chOff x="4978164" y="1772472"/>
              <a:chExt cx="1598390" cy="7111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71DA25E2-6B31-0EBB-E062-F0C98695FE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78164" y="1772472"/>
                <a:ext cx="292608" cy="699097"/>
              </a:xfrm>
              <a:prstGeom prst="rect">
                <a:avLst/>
              </a:prstGeom>
            </p:spPr>
          </p:pic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56B1FF9A-7DD5-FE5C-7173-A1AC3B1345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92378" y="1781219"/>
                <a:ext cx="292608" cy="699097"/>
              </a:xfrm>
              <a:prstGeom prst="rect">
                <a:avLst/>
              </a:prstGeom>
            </p:spPr>
          </p:pic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3A988779-494D-AE06-7D5F-B859111C30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58666" y="1781216"/>
                <a:ext cx="292607" cy="699097"/>
              </a:xfrm>
              <a:prstGeom prst="rect">
                <a:avLst/>
              </a:prstGeom>
            </p:spPr>
          </p:pic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2A4726A6-6912-5BDB-0C06-F89F3E165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10910" y="1781216"/>
                <a:ext cx="292608" cy="699097"/>
              </a:xfrm>
              <a:prstGeom prst="rect">
                <a:avLst/>
              </a:prstGeom>
            </p:spPr>
          </p:pic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23197A33-4A02-082F-C8EA-45B3735333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83946" y="1784570"/>
                <a:ext cx="292608" cy="699097"/>
              </a:xfrm>
              <a:prstGeom prst="rect">
                <a:avLst/>
              </a:prstGeom>
            </p:spPr>
          </p:pic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9208F0D9-CF79-719F-90EE-1CBA612A68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30279" y="1780451"/>
                <a:ext cx="292608" cy="699097"/>
              </a:xfrm>
              <a:prstGeom prst="rect">
                <a:avLst/>
              </a:prstGeom>
            </p:spPr>
          </p:pic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773B33D-39C7-18B6-3253-4E42BE4C8166}"/>
                </a:ext>
              </a:extLst>
            </p:cNvPr>
            <p:cNvGrpSpPr/>
            <p:nvPr/>
          </p:nvGrpSpPr>
          <p:grpSpPr>
            <a:xfrm>
              <a:off x="685387" y="4046272"/>
              <a:ext cx="1811591" cy="869445"/>
              <a:chOff x="4978164" y="1772467"/>
              <a:chExt cx="1598390" cy="707081"/>
            </a:xfrm>
          </p:grpSpPr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46F43F61-F5E9-3FB3-9C30-026D0D6842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78164" y="1772472"/>
                <a:ext cx="292608" cy="699097"/>
              </a:xfrm>
              <a:prstGeom prst="rect">
                <a:avLst/>
              </a:prstGeom>
            </p:spPr>
          </p:pic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F3D26D0E-9AEB-EB8E-5534-B04F44B178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92378" y="1772470"/>
                <a:ext cx="292608" cy="699097"/>
              </a:xfrm>
              <a:prstGeom prst="rect">
                <a:avLst/>
              </a:prstGeom>
            </p:spPr>
          </p:pic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C44CF197-3FC7-EEAE-D197-E5F6145824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58666" y="1772467"/>
                <a:ext cx="292607" cy="699097"/>
              </a:xfrm>
              <a:prstGeom prst="rect">
                <a:avLst/>
              </a:prstGeom>
            </p:spPr>
          </p:pic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7A6137CD-682A-57B7-A952-8F5C6E7CC0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10910" y="1772467"/>
                <a:ext cx="292608" cy="699097"/>
              </a:xfrm>
              <a:prstGeom prst="rect">
                <a:avLst/>
              </a:prstGeom>
            </p:spPr>
          </p:pic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F3445CC0-FA35-AF08-13F7-2569E45BD4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83946" y="1775821"/>
                <a:ext cx="292608" cy="699097"/>
              </a:xfrm>
              <a:prstGeom prst="rect">
                <a:avLst/>
              </a:prstGeom>
            </p:spPr>
          </p:pic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26394047-EAB5-79A9-D1F4-E5A7C9095D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30279" y="1780451"/>
                <a:ext cx="292608" cy="69909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38634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40686-A433-1D97-32AD-9D8557023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1C2F62-6312-6C6B-4BFE-1CC6B717F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046" y="6266288"/>
            <a:ext cx="1593954" cy="59171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1A99217-339F-B9DD-254F-C5B3ECB443C1}"/>
              </a:ext>
            </a:extLst>
          </p:cNvPr>
          <p:cNvGrpSpPr/>
          <p:nvPr/>
        </p:nvGrpSpPr>
        <p:grpSpPr>
          <a:xfrm>
            <a:off x="0" y="0"/>
            <a:ext cx="12192000" cy="701383"/>
            <a:chOff x="0" y="2889218"/>
            <a:chExt cx="12192000" cy="7013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F7EBCD8-7705-1357-E675-C91AE774CE67}"/>
                </a:ext>
              </a:extLst>
            </p:cNvPr>
            <p:cNvSpPr/>
            <p:nvPr/>
          </p:nvSpPr>
          <p:spPr>
            <a:xfrm>
              <a:off x="0" y="2889218"/>
              <a:ext cx="12192000" cy="701383"/>
            </a:xfrm>
            <a:prstGeom prst="rect">
              <a:avLst/>
            </a:prstGeom>
            <a:solidFill>
              <a:srgbClr val="000099"/>
            </a:solidFill>
            <a:ln>
              <a:solidFill>
                <a:srgbClr val="000099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C134DA-9171-799A-9CD2-5011EC34071F}"/>
                </a:ext>
              </a:extLst>
            </p:cNvPr>
            <p:cNvSpPr txBox="1"/>
            <p:nvPr/>
          </p:nvSpPr>
          <p:spPr>
            <a:xfrm>
              <a:off x="148659" y="3009076"/>
              <a:ext cx="925950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2400" b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HÌNH ẢNH KỆ </a:t>
              </a:r>
              <a:endPara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ABE94598-28F6-C369-C4AC-9FE8D353E32B}"/>
              </a:ext>
            </a:extLst>
          </p:cNvPr>
          <p:cNvSpPr txBox="1"/>
          <p:nvPr/>
        </p:nvSpPr>
        <p:spPr>
          <a:xfrm>
            <a:off x="4353667" y="5870912"/>
            <a:ext cx="6339710" cy="33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Kích thước: 1,3m (cao) x 0.5m (rộng) x 0.25m (sâu)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5" name="Picture 14" descr="A group of green display boards&#10;&#10;AI-generated content may be incorrect.">
            <a:extLst>
              <a:ext uri="{FF2B5EF4-FFF2-40B4-BE49-F238E27FC236}">
                <a16:creationId xmlns:a16="http://schemas.microsoft.com/office/drawing/2014/main" id="{6BAC4088-E64B-971C-0BD4-803CA1165D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431" y="821241"/>
            <a:ext cx="8303667" cy="498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21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5481C-B2E8-FBC7-9CD7-BE9E5B2F9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6254E14-91DF-0E60-AB44-E29796D4C918}"/>
              </a:ext>
            </a:extLst>
          </p:cNvPr>
          <p:cNvGrpSpPr/>
          <p:nvPr/>
        </p:nvGrpSpPr>
        <p:grpSpPr>
          <a:xfrm>
            <a:off x="0" y="119858"/>
            <a:ext cx="12192000" cy="3659833"/>
            <a:chOff x="0" y="3009076"/>
            <a:chExt cx="12192000" cy="365983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C9D47D6-83EA-6438-7783-AC6CA56C730B}"/>
                </a:ext>
              </a:extLst>
            </p:cNvPr>
            <p:cNvSpPr/>
            <p:nvPr/>
          </p:nvSpPr>
          <p:spPr>
            <a:xfrm>
              <a:off x="0" y="5967526"/>
              <a:ext cx="12192000" cy="701383"/>
            </a:xfrm>
            <a:prstGeom prst="rect">
              <a:avLst/>
            </a:prstGeom>
            <a:solidFill>
              <a:srgbClr val="000099"/>
            </a:solidFill>
            <a:ln>
              <a:solidFill>
                <a:srgbClr val="000099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THANK YOU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744BDF-06E4-DB72-1A5F-2FC40AFC493C}"/>
                </a:ext>
              </a:extLst>
            </p:cNvPr>
            <p:cNvSpPr txBox="1"/>
            <p:nvPr/>
          </p:nvSpPr>
          <p:spPr>
            <a:xfrm>
              <a:off x="148659" y="3009076"/>
              <a:ext cx="925950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WET MARKETS PILOT LIST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04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2225</TotalTime>
  <Words>473</Words>
  <Application>Microsoft Office PowerPoint</Application>
  <PresentationFormat>Widescreen</PresentationFormat>
  <Paragraphs>67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Arial Black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 ANH</dc:creator>
  <cp:lastModifiedBy>ICB Tuyen Le Thi Thanh</cp:lastModifiedBy>
  <cp:revision>2</cp:revision>
  <dcterms:created xsi:type="dcterms:W3CDTF">2025-12-04T00:20:47Z</dcterms:created>
  <dcterms:modified xsi:type="dcterms:W3CDTF">2026-01-03T01:32:51Z</dcterms:modified>
</cp:coreProperties>
</file>